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590736969955-71cc94901144" ContentType="image/photo-1590736969955-71cc94901144"/>
  <Default Extension="photo-1554118811-1e0d58224f24" ContentType="image/photo-1554118811-1e0d58224f24"/>
  <Default Extension="photo-1611162616305-c69b3fa7fbe0" ContentType="image/photo-1611162616305-c69b3fa7fbe0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Запуск</c:v>
                </c:pt>
              </c:strCache>
            </c:strRef>
          </c:tx>
          <c:spPr>
            <a:solidFill>
              <a:srgbClr val="C9A9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Аренда+депозит</c:v>
                  </c:pt>
                  <c:pt idx="1">
                    <c:v>Ремонт СанПиН</c:v>
                  </c:pt>
                  <c:pt idx="2">
                    <c:v>Мебель и оборуд.</c:v>
                  </c:pt>
                  <c:pt idx="3">
                    <c:v>Маркетинг</c:v>
                  </c:pt>
                  <c:pt idx="4">
                    <c:v>Запас расходников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125</c:v>
                </c:pt>
                <c:pt idx="1">
                  <c:v>800</c:v>
                </c:pt>
                <c:pt idx="2">
                  <c:v>700</c:v>
                </c:pt>
                <c:pt idx="3">
                  <c:v>200</c:v>
                </c:pt>
                <c:pt idx="4">
                  <c:v>150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тыс. ₽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Статьи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2A4A"/>
              </a:solidFill>
              <a:effectLst/>
            </c:spPr>
          </c:dPt>
          <c:dPt>
            <c:idx val="1"/>
            <c:bubble3D val="0"/>
            <c:spPr>
              <a:solidFill>
                <a:srgbClr val="C9A962"/>
              </a:solidFill>
              <a:effectLst/>
            </c:spPr>
          </c:dPt>
          <c:dPt>
            <c:idx val="2"/>
            <c:bubble3D val="0"/>
            <c:spPr>
              <a:solidFill>
                <a:srgbClr val="8B7355"/>
              </a:solidFill>
              <a:effectLst/>
            </c:spPr>
          </c:dPt>
          <c:dPt>
            <c:idx val="3"/>
            <c:bubble3D val="0"/>
            <c:spPr>
              <a:solidFill>
                <a:srgbClr val="D4C4A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Аренда+КУ</c:v>
                </c:pt>
                <c:pt idx="1">
                  <c:v>ФОТ (среднее)</c:v>
                </c:pt>
                <c:pt idx="2">
                  <c:v>Расходники (среднее)</c:v>
                </c:pt>
                <c:pt idx="3">
                  <c:v>Реклама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100</c:v>
                </c:pt>
                <c:pt idx="1">
                  <c:v>325</c:v>
                </c:pt>
                <c:pt idx="2">
                  <c:v>60</c:v>
                </c:pt>
                <c:pt idx="3">
                  <c:v>50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 тату (оценка)</c:v>
                </c:pt>
              </c:strCache>
            </c:strRef>
          </c:tx>
          <c:spPr>
            <a:solidFill>
              <a:srgbClr val="2C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2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96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Безубыток (~30 сеансов)</c:v>
                  </c:pt>
                  <c:pt idx="1">
                    <c:v>План 2×20 сеансов/мес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375000</c:v>
                </c:pt>
                <c:pt idx="1">
                  <c:v>500000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₽ / мес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Накопленный результат (условно)</c:v>
                </c:pt>
              </c:strCache>
            </c:strRef>
          </c:tx>
          <c:spPr>
            <a:solidFill>
              <a:srgbClr val="C9A962"/>
            </a:solidFill>
            <a:ln w="38100" cap="flat">
              <a:solidFill>
                <a:srgbClr val="C9A96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962"/>
              </a:solidFill>
              <a:ln w="9525" cap="flat">
                <a:solidFill>
                  <a:srgbClr val="C9A96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Мес. 1</c:v>
                  </c:pt>
                  <c:pt idx="1">
                    <c:v>Мес. 2</c:v>
                  </c:pt>
                  <c:pt idx="2">
                    <c:v>Мес. 3</c:v>
                  </c:pt>
                  <c:pt idx="3">
                    <c:v>Мес.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-400000</c:v>
                </c:pt>
                <c:pt idx="1">
                  <c:v>-250000</c:v>
                </c:pt>
                <c:pt idx="2">
                  <c:v>-80000</c:v>
                </c:pt>
                <c:pt idx="3">
                  <c:v>50000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hoto-1590736969955-71cc94901144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hoto-1554118811-1e0d58224f24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hoto-1611162616305-c69b3fa7fbe0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90736969955-71cc94901144?w=1920&amp;q=85&amp;auto=format&amp;fit=cro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7548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2C2A4A">
              <a:alpha val="65000"/>
            </a:srgbClr>
          </a:solidFill>
          <a:ln w="12700">
            <a:solidFill>
              <a:srgbClr val="2C2A4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937760" y="12344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 &amp; Aura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937760" y="2148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9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Арт-студия татуировки и дизайна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937760" y="26974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Бизнес-план · гибридное арт-пространство в центре города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937760" y="3794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2A4A"/>
                </a:solidFill>
              </a:rPr>
              <a:t>Тату как терапия и искусство — не стресс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A4A"/>
                </a:solidFill>
              </a:rPr>
              <a:t>Описание проекта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394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Художественная татуировка — основной продукт; эскизы и цифровой арт.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Мини-кофейня «для своих», лаунж; авторский мерч (принты, футболки, стикеры).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Формат: светлое премиальное пространство вместо «брутального подвала».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Масштаб: 3–4 рабочих места мастеров, зона стерилизации, отдельный лаунж.</a:t>
            </a:r>
            <a:endParaRPr lang="en-US" sz="1300" dirty="0"/>
          </a:p>
        </p:txBody>
      </p:sp>
      <p:pic>
        <p:nvPicPr>
          <p:cNvPr id="4" name="Image 0" descr="https://images.unsplash.com/photo-1554118811-1e0d58224f24?w=1600&amp;q=85&amp;auto=format&amp;fit=cr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914400"/>
            <a:ext cx="3063240" cy="3657600"/>
          </a:xfrm>
          <a:prstGeom prst="ellipse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A4A"/>
                </a:solidFill>
              </a:rPr>
              <a:t>Анализ конкурентов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349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Прямые конкуренты: классические салоны (олдскул, агрессивный визуал) — мрачная атмосфера, слабый сервис, слабые соцсети.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Непрямые: мастера «на дому» — риски стерильности и отсутствие юридических гарантий.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Вывод: рынок насыщен, но мало «дружелюбных» студий с медбезопасностью и высоким сервисом.</a:t>
            </a:r>
            <a:endParaRPr lang="en-US" sz="1300" dirty="0"/>
          </a:p>
        </p:txBody>
      </p:sp>
      <p:pic>
        <p:nvPicPr>
          <p:cNvPr id="4" name="Image 0" descr="https://images.unsplash.com/photo-1611162616305-c69b3fa7fbe0?w=1600&amp;q=85&amp;auto=format&amp;fit=cr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051560"/>
            <a:ext cx="3108960" cy="320040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2"/>
                </a:solidFill>
              </a:rPr>
              <a:t>Ниша: эстетика + безопасность + комфорт ожидания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A4A"/>
                </a:solidFill>
              </a:rPr>
              <a:t>Уникальное торговое предложение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A962"/>
                </a:solidFill>
              </a:rPr>
              <a:t>«Татуировка как терапия и искусство, а не стресс»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AR-примерка: приложение / фильтры — «примерить» тату до сеанса.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Эко-подход: веганские пигменты, биоразлагаемые расходники.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Beauty-стандарт: интерьер уровня спа/галереи — ЦА с высоким чеком.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Care-box: подарочный набор для заживления в фирменной упаковке.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A4A"/>
                </a:solidFill>
              </a:rPr>
              <a:t>Организация и команда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Правовая форма: ИП, УСН 6% — оптимально для старта и работы с физлицами.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Основатель: стратегия, маркетинг, контроль качества.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2 топ-мастера (аренда места или % от чека).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Администратор-бариста: встреча, запись, кофе, CRM.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SMM (фриланс), приходящий бухгалтер и клининг.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Налоги: фиксированные взносы ИП + налог с выручки.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A4A"/>
                </a:solidFill>
              </a:rPr>
              <a:t>Инвестиции на запуск (~2,0–2,5 млн ₽)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11480" y="914400"/>
          <a:ext cx="83210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A4A"/>
                </a:solidFill>
              </a:rPr>
              <a:t>Ежемесячные операционные расходы (ориентир)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A"/>
                </a:solidFill>
              </a:rPr>
              <a:t>Аренда+КУ ~100 тыс. · ФОТ 250–400 тыс. · Расходники 50–70 тыс. · Реклама ~50 тыс.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349240" y="914400"/>
          <a:ext cx="36576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A4A"/>
                </a:solidFill>
              </a:rPr>
              <a:t>Эффективность и рентабельность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11480" y="868680"/>
          <a:ext cx="50292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5532120" y="868680"/>
          <a:ext cx="324612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379476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Средний чек: 10 000–15 000 ₽ за сеанс.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Выручка: 400 000–600 000 ₽/мес при загрузке 2 мастеров × ~20 сеансов + мерч и кофе.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Точка окупаемости: ~30 сеансов/мес (~4-й месяц).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Срок возврата инвестиций: 14–18 мес. · Рентабельность: 25–35%.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A4A"/>
                </a:solidFill>
              </a:rPr>
              <a:t>Маркетинговая стратегия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Контент: TikTok / Reels — процесс, ASMR, до/после, реакции клиентов.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Инфлюенсеры: бартер с локальными блогерами (тату ↔ серия сторис).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Реферальная программа: друг = скидка / кофе / мерч.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Геосервисы: Яндекс.Карты и Google — фото интерьера и отзывы.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Event: раз в квартал Flash Day — фикс-цена, диджей, безалкогольные коктейли.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A4A"/>
                </a:solidFill>
              </a:rPr>
              <a:t>Итоги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Концепция: премиальное светлое арт-пространство Ink &amp; Aura с кофе и мерчем.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Капитальные затраты: ~2–2,5 млн ₽; окупаемость при дисциплине загрузки.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Ключевой драйвер — сочетание сервиса, безопасности и digital/AR-опыта.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A4A5A"/>
                </a:solidFill>
              </a:rPr>
              <a:t>Следующий шаг: подбор локации, смета ремонта по СанПиН, пилотный контент-план.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2C2A4A">
              <a:alpha val="8000"/>
            </a:srgbClr>
          </a:solidFill>
          <a:ln w="6350">
            <a:solidFill>
              <a:srgbClr val="C9A9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22452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A"/>
                </a:solidFill>
              </a:rPr>
              <a:t>Импорт в Google Презентации: Файл → Импортировать слайды → загрузить этот .pptx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Ink &amp; Aura — бизнес-план</dc:title>
  <dc:subject>Арт-студия татуировки и дизайна</dc:subject>
  <dc:creator>Ink &amp; Aura</dc:creator>
  <cp:lastModifiedBy>Ink &amp; Aura</cp:lastModifiedBy>
  <cp:revision>1</cp:revision>
  <dcterms:created xsi:type="dcterms:W3CDTF">2026-05-12T14:57:14Z</dcterms:created>
  <dcterms:modified xsi:type="dcterms:W3CDTF">2026-05-12T14:57:14Z</dcterms:modified>
</cp:coreProperties>
</file>